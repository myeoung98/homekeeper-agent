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914400"/>
            <a:ext cx="4572000" cy="4572000"/>
          </a:xfrm>
          <a:prstGeom prst="ellipse">
            <a:avLst/>
          </a:prstGeom>
          <a:solidFill>
            <a:srgbClr val="1A140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0EDE6"/>
                </a:solidFill>
                <a:latin typeface="Calibri"/>
              </a:rPr>
              <a:t>HomeKeeper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9E0B"/>
                </a:solidFill>
                <a:latin typeface="Calibri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1A8"/>
                </a:solidFill>
                <a:latin typeface="Calibri"/>
              </a:rPr>
              <a:t>Trợ lý AI quản lý bảo trì nhà thông minh qua Telegram.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35B74"/>
                </a:solidFill>
                <a:latin typeface="Calibri"/>
              </a:rPr>
              <a:t>Phân tích ảnh · Nhắc nhở tự động · Gợi ý thợ phù hợp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51960"/>
            <a:ext cx="1554480" cy="256032"/>
          </a:xfrm>
          <a:prstGeom prst="rect">
            <a:avLst/>
          </a:prstGeom>
          <a:solidFill>
            <a:srgbClr val="011110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9488"/>
                </a:solidFill>
                <a:latin typeface="Calibri"/>
              </a:rPr>
              <a:t>AI-Native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251960"/>
            <a:ext cx="1554480" cy="256032"/>
          </a:xfrm>
          <a:prstGeom prst="rect">
            <a:avLst/>
          </a:prstGeom>
          <a:solidFill>
            <a:srgbClr val="1D12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Zero App Install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4251960"/>
            <a:ext cx="1554480" cy="256032"/>
          </a:xfrm>
          <a:prstGeom prst="rect">
            <a:avLst/>
          </a:prstGeom>
          <a:solidFill>
            <a:srgbClr val="0F101D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18CF8"/>
                </a:solidFill>
                <a:latin typeface="Calibri"/>
              </a:rPr>
              <a:t>Telegram-Native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0EDE6"/>
                </a:solidFill>
                <a:latin typeface="Calibri"/>
              </a:rPr>
              <a:t>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17920"/>
            <a:ext cx="10881360" cy="9525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5B74"/>
                </a:solidFill>
                <a:latin typeface="Calibri"/>
              </a:rPr>
              <a:t>VibeCoding App Challenge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263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35B74"/>
                </a:solidFill>
                <a:latin typeface="Calibri"/>
              </a:rPr>
              <a:t>Python · FastAPI · Groq · OpenRouter ·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01 — VẤN ĐỀ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Nhà hỏng lúc nào,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bạn không biết.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1A8"/>
                </a:solidFill>
                <a:latin typeface="Calibri"/>
              </a:rPr>
              <a:t>Quản lý bảo trì nhà là bài toán thật, giải bằng trí nhớ. Kết quả: thiết bị hỏng đột ngột, thợ khó tìm, chi phí tăng.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2468880" cy="20116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2468880" cy="3810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Không có lịch bảo trì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Hộ gia đình không theo dõi định kỳ
vệ sinh, kiểm tra thiết bị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468880" cy="20116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834640"/>
            <a:ext cx="2468880" cy="3810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"/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Chi phí sửa chữa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Sửa khẩn cấp tốn gấp 3 lần
bảo trì định kỳ đúng hạn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834640"/>
            <a:ext cx="2468880" cy="20116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834640"/>
            <a:ext cx="2468880" cy="3810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"/>
              </a:rPr>
              <a:t>45'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Tìm thợ mỗi sự cố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Trung bình 45 phút hỏi mạng xã hội
để tìm được thợ đáng tin cậy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834640"/>
            <a:ext cx="2468880" cy="20116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2834640"/>
            <a:ext cx="2468880" cy="3810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App quản lý nhà dùng lâu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Nhiều app tồn tại nhưng churn cao
vì onboarding quá phức tạp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02 —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AI agent sống trong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group nhà bạn.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1A8"/>
                </a:solidFill>
                <a:latin typeface="Calibri"/>
              </a:rPr>
              <a:t>Thêm HomeKeeper Agent vào group Telegram gia đình — bot tự setup, tự học context, tự nhắc nhở.
Không cần app mới, không cần đăng ký, không cần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56616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Gửi ảnh → AI chẩn đoán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Chụp thiết bị hỏng, AI nhận diện vấn đề
và gợi ý thợ trong &lt; 5 giây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83464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3566160" cy="381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Nhắn tự nhiên → Bot hiểu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"Nhắc vệ sinh máy lạnh sau 30 ngày"
bot tự tạo lịch, không cần 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834640"/>
            <a:ext cx="3566160" cy="38100"/>
          </a:xfrm>
          <a:prstGeom prst="rect">
            <a:avLst/>
          </a:prstGeom>
          <a:solidFill>
            <a:srgbClr val="818C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Reminder tự động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Đúng ngày hạn, bot nhắc cả group
Không cần ai nhớ gì thêm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343400"/>
            <a:ext cx="356616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Multi-tenant zero-config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Mỗi group Telegram = 1 household
Dữ liệu hoàn toàn độc lập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34340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343400"/>
            <a:ext cx="3566160" cy="381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Dashboard real-time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937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Giao diện web theo dõi health score,
lịch quá hạn, sự cố, thợ sửa chữa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343400"/>
            <a:ext cx="3566160" cy="1325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343400"/>
            <a:ext cx="3566160" cy="38100"/>
          </a:xfrm>
          <a:prstGeom prst="rect">
            <a:avLst/>
          </a:prstGeom>
          <a:solidFill>
            <a:srgbClr val="818C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Danh bạ thợ thông minh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937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AI match thợ phù hợp theo loại dịch vụ
khi có sự cố xảy 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03 —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Xem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làm việc.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029200" cy="11430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6"/>
                </a:solidFill>
                <a:latin typeface="Calibri"/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Vision AI — Phân tích 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Nhận ảnh → nhận diện vấn đề → severity + gợi ý thợ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98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9488"/>
                </a:solidFill>
                <a:latin typeface="Calibri"/>
              </a:rPr>
              <a:t>↳ OpenRouter Vision (qwen2-vl-72b)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5029200" cy="11430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6"/>
                </a:solidFill>
                <a:latin typeface="Calibr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NLP tiếng Việt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Detect intent → extract entities → thực thi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24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9488"/>
                </a:solidFill>
                <a:latin typeface="Calibri"/>
              </a:rPr>
              <a:t>↳ Groq llama-3.3-70b-versatile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5029200" cy="11430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DE6"/>
                </a:solidFill>
                <a:latin typeface="Calibri"/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Smart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Tạo lịch → reminder đúng ngày → confirm / skip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50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9488"/>
                </a:solidFill>
                <a:latin typeface="Calibri"/>
              </a:rPr>
              <a:t>↳ APScheduler + Telegram callbacks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577840" cy="475488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577840" cy="502920"/>
          </a:xfrm>
          <a:prstGeom prst="rect">
            <a:avLst/>
          </a:prstGeom>
          <a:solidFill>
            <a:srgbClr val="1B20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🏠 HomeKeeper Agent  ● online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929384"/>
            <a:ext cx="3566160" cy="475488"/>
          </a:xfrm>
          <a:prstGeom prst="rect">
            <a:avLst/>
          </a:prstGeom>
          <a:solidFill>
            <a:srgbClr val="2B527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9659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2FF"/>
                </a:solidFill>
                <a:latin typeface="Calibri"/>
              </a:rPr>
              <a:t>máy lạnh phòng khách không mát 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41448"/>
            <a:ext cx="3931920" cy="1060704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78024"/>
            <a:ext cx="38404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6"/>
                </a:solidFill>
                <a:latin typeface="Calibri"/>
              </a:rPr>
              <a:t>🔍 Vấn đề: Lọc bẩn hoặc thiếu gas
🟠 Mức độ: Trung bình
💡 Vệ sinh lọc, kiểm tra áp suất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538728"/>
            <a:ext cx="3931920" cy="768096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575304"/>
            <a:ext cx="38404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6"/>
                </a:solidFill>
                <a:latin typeface="Calibri"/>
              </a:rPr>
              <a:t>🔧 Thợ: Lê Quốc Cường
📞 0923 456 789 [máy lạnh]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343400"/>
            <a:ext cx="3566160" cy="475488"/>
          </a:xfrm>
          <a:prstGeom prst="rect">
            <a:avLst/>
          </a:prstGeom>
          <a:solidFill>
            <a:srgbClr val="2B527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3799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F2FF"/>
                </a:solidFill>
                <a:latin typeface="Calibri"/>
              </a:rPr>
              <a:t>nhắc tôi vệ sinh máy lạnh sau 30 ngày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55464"/>
            <a:ext cx="3931920" cy="768096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92040"/>
            <a:ext cx="38404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DE6"/>
                </a:solidFill>
                <a:latin typeface="Calibri"/>
              </a:rPr>
              <a:t>✅ Đã tạo lịch: Vệ sinh máy lạnh
📅 Nhắc: 30 ngày nữa 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04 — KIẾN TRÚC KỸ THUẬT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AI là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interface chính.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1A8"/>
                </a:solidFill>
                <a:latin typeface="Calibri"/>
              </a:rPr>
              <a:t>Không có AI → bot chỉ là command parser. Với AI → bot hiểu ý định, kết nối dữ liệu, hành động tự động.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2560320" cy="475488"/>
          </a:xfrm>
          <a:prstGeom prst="rect">
            <a:avLst/>
          </a:prstGeom>
          <a:solidFill>
            <a:srgbClr val="141519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91A8"/>
                </a:solidFill>
                <a:latin typeface="Calibri"/>
              </a:rPr>
              <a:t>📱 Telegram Group (text / photo)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727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35B74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65376"/>
            <a:ext cx="1188720" cy="475488"/>
          </a:xfrm>
          <a:prstGeom prst="rect">
            <a:avLst/>
          </a:prstGeom>
          <a:solidFill>
            <a:srgbClr val="011614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938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9488"/>
                </a:solidFill>
                <a:latin typeface="Calibri"/>
              </a:rPr>
              <a:t>Groq NLP
Intent + Entities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865376"/>
            <a:ext cx="1188720" cy="475488"/>
          </a:xfrm>
          <a:prstGeom prst="rect">
            <a:avLst/>
          </a:prstGeom>
          <a:solidFill>
            <a:srgbClr val="2417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938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  <a:latin typeface="Calibri"/>
              </a:rPr>
              <a:t>Vision AI
Photo →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408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35B74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633472"/>
            <a:ext cx="777240" cy="475488"/>
          </a:xfrm>
          <a:prstGeom prst="rect">
            <a:avLst/>
          </a:prstGeom>
          <a:solidFill>
            <a:srgbClr val="141519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7066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91A8"/>
                </a:solidFill>
                <a:latin typeface="Calibri"/>
              </a:rPr>
              <a:t>📋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9420" y="2633472"/>
            <a:ext cx="777240" cy="475488"/>
          </a:xfrm>
          <a:prstGeom prst="rect">
            <a:avLst/>
          </a:prstGeom>
          <a:solidFill>
            <a:srgbClr val="141519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0860" y="27066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91A8"/>
                </a:solidFill>
                <a:latin typeface="Calibri"/>
              </a:rPr>
              <a:t>🔧 Repair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633472"/>
            <a:ext cx="777240" cy="475488"/>
          </a:xfrm>
          <a:prstGeom prst="rect">
            <a:avLst/>
          </a:prstGeom>
          <a:solidFill>
            <a:srgbClr val="141519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70662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91A8"/>
                </a:solidFill>
                <a:latin typeface="Calibri"/>
              </a:rPr>
              <a:t>🚨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35B74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401568"/>
            <a:ext cx="2560320" cy="475488"/>
          </a:xfrm>
          <a:prstGeom prst="rect">
            <a:avLst/>
          </a:prstGeom>
          <a:solidFill>
            <a:srgbClr val="131525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CF8"/>
                </a:solidFill>
                <a:latin typeface="Calibri"/>
              </a:rPr>
              <a:t>APScheduler → Reminder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968496"/>
            <a:ext cx="2560320" cy="9525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105656"/>
            <a:ext cx="1188720" cy="475488"/>
          </a:xfrm>
          <a:prstGeom prst="rect">
            <a:avLst/>
          </a:prstGeom>
          <a:solidFill>
            <a:srgbClr val="0C0D11"/>
          </a:solidFill>
          <a:ln w="9525">
            <a:solidFill>
              <a:srgbClr val="53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178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35B74"/>
                </a:solidFill>
                <a:latin typeface="Calibri"/>
              </a:rPr>
              <a:t>FastAPI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105656"/>
            <a:ext cx="1188720" cy="475488"/>
          </a:xfrm>
          <a:prstGeom prst="rect">
            <a:avLst/>
          </a:prstGeom>
          <a:solidFill>
            <a:srgbClr val="0C0D11"/>
          </a:solidFill>
          <a:ln w="9525">
            <a:solidFill>
              <a:srgbClr val="53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178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35B74"/>
                </a:solidFill>
                <a:latin typeface="Calibri"/>
              </a:rPr>
              <a:t>Multi-tenant
chat_id=household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34640"/>
            <a:ext cx="1554480" cy="256032"/>
          </a:xfrm>
          <a:prstGeom prst="rect">
            <a:avLst/>
          </a:prstGeom>
          <a:solidFill>
            <a:srgbClr val="1D12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Python 3.12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18688"/>
            <a:ext cx="1554480" cy="256032"/>
          </a:xfrm>
          <a:prstGeom prst="rect">
            <a:avLst/>
          </a:prstGeom>
          <a:solidFill>
            <a:srgbClr val="1D12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FastAPI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02736"/>
            <a:ext cx="1554480" cy="256032"/>
          </a:xfrm>
          <a:prstGeom prst="rect">
            <a:avLst/>
          </a:prstGeom>
          <a:solidFill>
            <a:srgbClr val="1D12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python-telegram-bot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86784"/>
            <a:ext cx="1554480" cy="256032"/>
          </a:xfrm>
          <a:prstGeom prst="rect">
            <a:avLst/>
          </a:prstGeom>
          <a:solidFill>
            <a:srgbClr val="011110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9488"/>
                </a:solidFill>
                <a:latin typeface="Calibri"/>
              </a:rPr>
              <a:t>Groq llama-3.3-70b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70832"/>
            <a:ext cx="1554480" cy="256032"/>
          </a:xfrm>
          <a:prstGeom prst="rect">
            <a:avLst/>
          </a:prstGeom>
          <a:solidFill>
            <a:srgbClr val="011110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0D9488"/>
                </a:solidFill>
                <a:latin typeface="Calibri"/>
              </a:rPr>
              <a:t>OpenRouter Vision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1554480" cy="256032"/>
          </a:xfrm>
          <a:prstGeom prst="rect">
            <a:avLst/>
          </a:prstGeom>
          <a:solidFill>
            <a:srgbClr val="101114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B91A8"/>
                </a:solidFill>
                <a:latin typeface="Calibri"/>
              </a:rPr>
              <a:t>SQLite · WAL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38928"/>
            <a:ext cx="1554480" cy="256032"/>
          </a:xfrm>
          <a:prstGeom prst="rect">
            <a:avLst/>
          </a:prstGeom>
          <a:solidFill>
            <a:srgbClr val="101114"/>
          </a:solidFill>
          <a:ln w="9525">
            <a:solidFill>
              <a:srgbClr val="8B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8B91A8"/>
                </a:solidFill>
                <a:latin typeface="Calibri"/>
              </a:rPr>
              <a:t>Railway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05 — VIBE CODING &amp; AI-NATIVE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Built with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9488"/>
                </a:solidFill>
                <a:latin typeface="Calibri"/>
              </a:rPr>
              <a:t>Powered by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0" cy="146304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Tăng tốc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6–8 tuần → ~2 tuần
với vibe 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560320" cy="146304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128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DE6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Mỗi commit là 1 feature
hoàn chỉnh, AI-led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560320" cy="146304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9488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AI-Native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NLP + Vision là giao diện
chính, không phụ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2560320" cy="146304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2128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18CF8"/>
                </a:solidFill>
                <a:latin typeface="Calibri"/>
              </a:rPr>
              <a:t>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AI Collab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Nhật ký từng prompt,
quyết định, iteration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0F1A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DE6"/>
                </a:solidFill>
                <a:latin typeface="Calibri"/>
              </a:rPr>
              <a:t>Kiến trúc: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9319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AI thiết kế PTB state machine + DB schema multi-tenant từ đầu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0F1A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434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DE6"/>
                </a:solidFill>
                <a:latin typeface="Calibri"/>
              </a:rPr>
              <a:t>NLP Layer: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43484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AI build intent router + entity extraction tiếng Việt với Groq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0F1A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DE6"/>
                </a:solidFill>
                <a:latin typeface="Calibri"/>
              </a:rPr>
              <a:t>Vision Layer: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93776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AI debug OpenRouter model IDs bằng cách query live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486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0F1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DE6"/>
                </a:solidFill>
                <a:latin typeface="Calibri"/>
              </a:rPr>
              <a:t>Dashboard: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44068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AI tính health score + auto-seed realistic demo data cho Railway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0F1A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943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DE6"/>
                </a:solidFill>
                <a:latin typeface="Calibri"/>
              </a:rPr>
              <a:t>Deploy: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9436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AI đề xuất daemon thread pattern cho single-process Railway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06 — LỘ TRÌNH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Pilot nội bộ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đến nhân rộng.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520440" cy="41148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2044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Phase 1 ·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Calibri"/>
              </a:rPr>
              <a:t>Nội bộ FPT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5B74"/>
                </a:solidFill>
                <a:latin typeface="Calibri"/>
              </a:rPr>
              <a:t>⏱ Tháng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5–10 nhân viên dùng thử gia đình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Thu feedback use case thật VN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Hoàn thiện NLP tiếng Việt thực tế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Test Vision AI ảnh thiết bị VN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303520"/>
            <a:ext cx="3246120" cy="731520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EDE6"/>
                </a:solidFill>
                <a:latin typeface="Calibri"/>
              </a:rPr>
              <a:t>Đo được: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59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1A8"/>
                </a:solidFill>
                <a:latin typeface="Calibri"/>
              </a:rPr>
              <a:t>≥70% retention tuần 2
≥3 task / user / tháng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103120"/>
            <a:ext cx="3520440" cy="41148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3520440" cy="381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Phase 2 · Mở rộng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78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Calibri"/>
              </a:rPr>
              <a:t>Tòa nhà FPT &amp; đối tác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944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5B74"/>
                </a:solidFill>
                <a:latin typeface="Calibri"/>
              </a:rPr>
              <a:t>⏱ Tháng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Facility manager dùng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Mỗi tầng / khu = 1 group riêng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Tích hợp danh sách thợ chính thức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Báo cáo chi phí tháng / quý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303520"/>
            <a:ext cx="3246120" cy="731520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5349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EDE6"/>
                </a:solidFill>
                <a:latin typeface="Calibri"/>
              </a:rPr>
              <a:t>Đo được: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559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1A8"/>
                </a:solidFill>
                <a:latin typeface="Calibri"/>
              </a:rPr>
              <a:t>≥50 group active
giảm 30% thời gian xử lý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103120"/>
            <a:ext cx="3520440" cy="411480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103120"/>
            <a:ext cx="3520440" cy="38100"/>
          </a:xfrm>
          <a:prstGeom prst="rect">
            <a:avLst/>
          </a:prstGeom>
          <a:solidFill>
            <a:srgbClr val="818C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18CF8"/>
                </a:solidFill>
                <a:latin typeface="Calibri"/>
              </a:rPr>
              <a:t>Phase 3 ·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578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6"/>
                </a:solidFill>
                <a:latin typeface="Calibri"/>
              </a:rPr>
              <a:t>Property Management B2B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944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5B74"/>
                </a:solidFill>
                <a:latin typeface="Calibri"/>
              </a:rPr>
              <a:t>⏱ Tháng 6–12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SaaS cho công ty quản lý BĐS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Mở rộng kênh: Zalo 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Marketplace thợ được xác minh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→ API cho CRM / ERP property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5303520"/>
            <a:ext cx="3246120" cy="731520"/>
          </a:xfrm>
          <a:prstGeom prst="rect">
            <a:avLst/>
          </a:prstGeom>
          <a:solidFill>
            <a:srgbClr val="1B2035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349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EDE6"/>
                </a:solidFill>
                <a:latin typeface="Calibri"/>
              </a:rPr>
              <a:t>Đo được: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595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1A8"/>
                </a:solidFill>
                <a:latin typeface="Calibri"/>
              </a:rPr>
              <a:t>≥3 doanh nghiệp B2B
≥500 property quản lý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35B74"/>
                </a:solidFill>
                <a:latin typeface="Calibri"/>
              </a:rPr>
              <a:t>07 — 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6"/>
                </a:solidFill>
                <a:latin typeface="Calibri"/>
              </a:rPr>
              <a:t>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chạy thật.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11480" cy="381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100% AI-Native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NLP + Vision là interface chính, không phải tính năng phụ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Zero app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73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Telegram đã có sẵn — không có friction khi onboard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Zero config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07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Thêm bot vào group là xong, không cần tạo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🏗️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Multi-tenant built-in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1 bot phục vụ vô số hộ gia đình hoàn toàn độc lập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DE6"/>
                </a:solidFill>
                <a:latin typeface="Calibr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DE6"/>
                </a:solidFill>
                <a:latin typeface="Calibri"/>
              </a:rPr>
              <a:t>Live trên Railway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05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1A8"/>
                </a:solidFill>
                <a:latin typeface="Calibri"/>
              </a:rPr>
              <a:t>Dữ liệu thật, 3 household demo đang active ngay hôm nay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394960" cy="4846320"/>
          </a:xfrm>
          <a:prstGeom prst="rect">
            <a:avLst/>
          </a:prstGeom>
          <a:solidFill>
            <a:srgbClr val="131726"/>
          </a:solidFill>
          <a:ln w="9525">
            <a:solidFill>
              <a:srgbClr val="1E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394960" cy="457200"/>
          </a:xfrm>
          <a:prstGeom prst="rect">
            <a:avLst/>
          </a:prstGeom>
          <a:solidFill>
            <a:srgbClr val="1B20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EDE6"/>
                </a:solidFill>
                <a:latin typeface="Calibri"/>
              </a:rPr>
              <a:t>Evaluasi theo tiêu chí chấm điểm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TC1 · Chất lượng kỹ thuật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07568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2075688"/>
            <a:ext cx="1097280" cy="128016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0" y="1965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4.0/5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06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TC2 · Vibe Coding &amp; AI-Native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71576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715768"/>
            <a:ext cx="1234440" cy="128016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0" y="2606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4.5/5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TC3 · Giá trị &amp; lộ trình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35584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3355848"/>
            <a:ext cx="1097280" cy="128016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3246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4.0/5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TC4 · Ý tưởng &amp; đổi mới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399592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09760" y="3995928"/>
            <a:ext cx="1097280" cy="128016"/>
          </a:xfrm>
          <a:prstGeom prst="rect">
            <a:avLst/>
          </a:prstGeom>
          <a:solidFill>
            <a:srgbClr val="818C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64240" y="3886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18CF8"/>
                </a:solidFill>
                <a:latin typeface="Calibri"/>
              </a:rPr>
              <a:t>4.0/5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526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TC5 · UX &amp; độ tin cậy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63600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4636008"/>
            <a:ext cx="1042416" cy="128016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0" y="4526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3.8/5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1A8"/>
                </a:solidFill>
                <a:latin typeface="Calibri"/>
              </a:rPr>
              <a:t>TC6 · Trình bày &amp; demo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5276088"/>
            <a:ext cx="1371600" cy="128016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09760" y="5276088"/>
            <a:ext cx="1152144" cy="128016"/>
          </a:xfrm>
          <a:prstGeom prst="rect">
            <a:avLst/>
          </a:prstGeom>
          <a:solidFill>
            <a:srgbClr val="818C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64240" y="5166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18CF8"/>
                </a:solidFill>
                <a:latin typeface="Calibri"/>
              </a:rPr>
              <a:t>4.2/5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5806440"/>
            <a:ext cx="5120640" cy="9525"/>
          </a:xfrm>
          <a:prstGeom prst="rect">
            <a:avLst/>
          </a:prstGeom>
          <a:solidFill>
            <a:srgbClr val="1E27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DE6"/>
                </a:solidFill>
                <a:latin typeface="Calibri"/>
              </a:rPr>
              <a:t>Tổng ước tính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5870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~83 /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